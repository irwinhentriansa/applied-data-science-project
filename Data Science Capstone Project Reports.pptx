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FA8263-502D-4EAA-9A1C-C1C977C97820}" v="1" dt="2026-02-22T14:20:12.5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4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Irwin Hentriansa" userId="531d580e-7a31-418f-8b4c-442e0b0d9377" providerId="ADAL" clId="{69D4CC1A-D697-4F8B-BA08-8445BF9B54BC}"/>
    <pc:docChg chg="modSld">
      <pc:chgData name="Muhammad Irwin Hentriansa" userId="531d580e-7a31-418f-8b4c-442e0b0d9377" providerId="ADAL" clId="{69D4CC1A-D697-4F8B-BA08-8445BF9B54BC}" dt="2026-02-22T14:20:12.592" v="0"/>
      <pc:docMkLst>
        <pc:docMk/>
      </pc:docMkLst>
      <pc:sldChg chg="modSp">
        <pc:chgData name="Muhammad Irwin Hentriansa" userId="531d580e-7a31-418f-8b4c-442e0b0d9377" providerId="ADAL" clId="{69D4CC1A-D697-4F8B-BA08-8445BF9B54BC}" dt="2026-02-22T14:20:12.592" v="0"/>
        <pc:sldMkLst>
          <pc:docMk/>
          <pc:sldMk cId="0" sldId="256"/>
        </pc:sldMkLst>
        <pc:spChg chg="mod">
          <ac:chgData name="Muhammad Irwin Hentriansa" userId="531d580e-7a31-418f-8b4c-442e0b0d9377" providerId="ADAL" clId="{69D4CC1A-D697-4F8B-BA08-8445BF9B54BC}" dt="2026-02-22T14:20:12.592" v="0"/>
          <ac:spMkLst>
            <pc:docMk/>
            <pc:sldMk cId="0" sldId="256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9229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rwinhentriansa/Applied-Data-Science-Projec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0C6FF">
              <a:alpha val="1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7315200" y="2743200"/>
            <a:ext cx="2743200" cy="2743200"/>
          </a:xfrm>
          <a:prstGeom prst="ellipse">
            <a:avLst/>
          </a:prstGeom>
          <a:solidFill>
            <a:srgbClr val="FF6B35">
              <a:alpha val="1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800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SPACEX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9 First Stage Landing Prediction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Data Science Professional Certificate — Capstone Project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Irwin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r>
              <a:rPr lang="en-ID" sz="1100" dirty="0" err="1">
                <a:hlinkClick r:id="rId3"/>
              </a:rPr>
              <a:t>irwinhentriansa</a:t>
            </a:r>
            <a:r>
              <a:rPr lang="en-ID" sz="1100" dirty="0">
                <a:hlinkClick r:id="rId3"/>
              </a:rPr>
              <a:t>/Applied-Data-Science-Project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417320" y="1261872"/>
            <a:ext cx="27432" cy="3657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1645920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45920" y="1463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and key findings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8105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417320" y="1883664"/>
            <a:ext cx="27432" cy="3657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1645920" y="1810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45920" y="20848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objectives, and problem statement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43230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417320" y="2505456"/>
            <a:ext cx="27432" cy="3657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1645920" y="24323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45920" y="2706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collection, wrangling, EDA, and ML pipeline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05409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417320" y="3127248"/>
            <a:ext cx="27432" cy="3657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1645920" y="30540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45920" y="33284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Visualizations, SQL insights, maps, and dashboards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6758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417320" y="3749040"/>
            <a:ext cx="27432" cy="3657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1645920" y="3675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45920" y="39502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 comparison and best model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2976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417320" y="4370832"/>
            <a:ext cx="27432" cy="3657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5" name="Text 23"/>
          <p:cNvSpPr/>
          <p:nvPr/>
        </p:nvSpPr>
        <p:spPr>
          <a:xfrm>
            <a:off x="164592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645920" y="4572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and recommendations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828800" cy="137160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828800" cy="54864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9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143000"/>
            <a:ext cx="1828800" cy="137160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9" name="Shape 7"/>
          <p:cNvSpPr/>
          <p:nvPr/>
        </p:nvSpPr>
        <p:spPr>
          <a:xfrm>
            <a:off x="2651760" y="1143000"/>
            <a:ext cx="1828800" cy="5486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2651760" y="1280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66.7%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65176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1828800" cy="137160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3" name="Shape 11"/>
          <p:cNvSpPr/>
          <p:nvPr/>
        </p:nvSpPr>
        <p:spPr>
          <a:xfrm>
            <a:off x="4754880" y="1143000"/>
            <a:ext cx="18288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4754880" y="1280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83.3%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1143000"/>
            <a:ext cx="1828800" cy="137160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7" name="Shape 15"/>
          <p:cNvSpPr/>
          <p:nvPr/>
        </p:nvSpPr>
        <p:spPr>
          <a:xfrm>
            <a:off x="6858000" y="1143000"/>
            <a:ext cx="1828800" cy="54864"/>
          </a:xfrm>
          <a:prstGeom prst="rect">
            <a:avLst/>
          </a:prstGeom>
          <a:solidFill>
            <a:srgbClr val="FFD60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6858000" y="1280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D6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5800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788920"/>
            <a:ext cx="8046720" cy="201168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1" name="Shape 19"/>
          <p:cNvSpPr/>
          <p:nvPr/>
        </p:nvSpPr>
        <p:spPr>
          <a:xfrm>
            <a:off x="548640" y="2788920"/>
            <a:ext cx="73152" cy="2011680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868680" y="288036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Goal: 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the Falcon 9 first stage will land successfully, enabling cost estimation ($62M vs $165M+ for competitors).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data via SpaceX REST API → EDA with visualization &amp; SQL → Interactive Folium maps &amp; Plotly Dash dashboards → Trained 4 classification models with GridSearchCV.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SVM, and KNN all achieved 83.3% test accuracy. Launch success increases with flight number and strongly correlates with launch site and orbit type. KSC LC-39A has the highest success rate.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54864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has revolutionized space travel by reusing the Falcon 9 first stage, reducing launch costs from $165M to just $62M.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landing success is crucial for accurate launch cost estimation — a key factor for companies bidding against SpaceX.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stage accounts for most of the launch cost. If it lands successfully, the rocket can be refurbished and reused, dramatically lowering the price.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if the Falcon 9 first stage will land successfully?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Which factors influence landing success?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Does payload mass affect outcome?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Which launch site has highest success?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Which orbits are most successful?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Has success rate improved over time?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Which ML model best predicts landing?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→ Wrangling → EDA → Interactive Analytics → Predictive Analysis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137160" cy="137160"/>
          </a:xfrm>
          <a:prstGeom prst="ellipse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Shape 4"/>
          <p:cNvSpPr/>
          <p:nvPr/>
        </p:nvSpPr>
        <p:spPr>
          <a:xfrm>
            <a:off x="1005840" y="3200400"/>
            <a:ext cx="137160" cy="13716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1280160" y="3200400"/>
            <a:ext cx="137160" cy="137160"/>
          </a:xfrm>
          <a:prstGeom prst="ellipse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554480" cy="201168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554480" cy="54864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457200" cy="457200"/>
          </a:xfrm>
          <a:prstGeom prst="ellipse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468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REST 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Web Scraping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18288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057400" y="1188720"/>
            <a:ext cx="1554480" cy="201168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2" name="Shape 10"/>
          <p:cNvSpPr/>
          <p:nvPr/>
        </p:nvSpPr>
        <p:spPr>
          <a:xfrm>
            <a:off x="2057400" y="1188720"/>
            <a:ext cx="1554480" cy="54864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3" name="Shape 11"/>
          <p:cNvSpPr/>
          <p:nvPr/>
        </p:nvSpPr>
        <p:spPr>
          <a:xfrm>
            <a:off x="2606040" y="1417320"/>
            <a:ext cx="457200" cy="457200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26060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03120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Wrangling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03120" y="2468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creation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11880" y="18288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840480" y="1188720"/>
            <a:ext cx="1554480" cy="201168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3840480" y="1188720"/>
            <a:ext cx="1554480" cy="5486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0" name="Shape 18"/>
          <p:cNvSpPr/>
          <p:nvPr/>
        </p:nvSpPr>
        <p:spPr>
          <a:xfrm>
            <a:off x="4389120" y="1417320"/>
            <a:ext cx="457200" cy="457200"/>
          </a:xfrm>
          <a:prstGeom prst="ellipse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43891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86200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86200" y="2468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SQL Analysis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94960" y="18288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623560" y="1188720"/>
            <a:ext cx="1554480" cy="201168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6" name="Shape 24"/>
          <p:cNvSpPr/>
          <p:nvPr/>
        </p:nvSpPr>
        <p:spPr>
          <a:xfrm>
            <a:off x="5623560" y="1188720"/>
            <a:ext cx="155448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7" name="Shape 25"/>
          <p:cNvSpPr/>
          <p:nvPr/>
        </p:nvSpPr>
        <p:spPr>
          <a:xfrm>
            <a:off x="6172200" y="141732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8" name="Text 26"/>
          <p:cNvSpPr/>
          <p:nvPr/>
        </p:nvSpPr>
        <p:spPr>
          <a:xfrm>
            <a:off x="61722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69280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0" y="2468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Maps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Plotly Dash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78040" y="18288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406640" y="1188720"/>
            <a:ext cx="1554480" cy="201168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3" name="Shape 31"/>
          <p:cNvSpPr/>
          <p:nvPr/>
        </p:nvSpPr>
        <p:spPr>
          <a:xfrm>
            <a:off x="7406640" y="1188720"/>
            <a:ext cx="1554480" cy="5486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4" name="Shape 32"/>
          <p:cNvSpPr/>
          <p:nvPr/>
        </p:nvSpPr>
        <p:spPr>
          <a:xfrm>
            <a:off x="7955280" y="1417320"/>
            <a:ext cx="457200" cy="457200"/>
          </a:xfrm>
          <a:prstGeom prst="ellipse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5" name="Text 33"/>
          <p:cNvSpPr/>
          <p:nvPr/>
        </p:nvSpPr>
        <p:spPr>
          <a:xfrm>
            <a:off x="79552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452360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452360" y="2468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ML Models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3520440"/>
            <a:ext cx="8229600" cy="123444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9" name="Text 37"/>
          <p:cNvSpPr/>
          <p:nvPr/>
        </p:nvSpPr>
        <p:spPr>
          <a:xfrm>
            <a:off x="64008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008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Pandas  •  NumPy  •  Matplotlib  •  Seaborn  •  Scikit-learn  •  Folium  •  Plotly Dash  •  SQL (SQLite)  •  SpaceX REST API  •  BeautifulSoup  •  Jupyter Notebook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COLLECTION — SpaceX API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41248"/>
            <a:ext cx="1371600" cy="36576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137160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64008" cy="1371600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94360" y="1188720"/>
            <a:ext cx="320040" cy="320040"/>
          </a:xfrm>
          <a:prstGeom prst="rect">
            <a:avLst/>
          </a:prstGeom>
          <a:solidFill>
            <a:srgbClr val="00C6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Request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api.spacexdata.com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/v4/launches/past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14630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560320" cy="137160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3291840" y="1097280"/>
            <a:ext cx="64008" cy="1371600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3429000" y="1188720"/>
            <a:ext cx="320040" cy="320040"/>
          </a:xfrm>
          <a:prstGeom prst="rect">
            <a:avLst/>
          </a:prstGeom>
          <a:solidFill>
            <a:srgbClr val="00C6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json_normalize()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DataFrame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14630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560320" cy="137160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7" name="Shape 15"/>
          <p:cNvSpPr/>
          <p:nvPr/>
        </p:nvSpPr>
        <p:spPr>
          <a:xfrm>
            <a:off x="6126480" y="1097280"/>
            <a:ext cx="64008" cy="1371600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6263640" y="1188720"/>
            <a:ext cx="320040" cy="320040"/>
          </a:xfrm>
          <a:prstGeom prst="rect">
            <a:avLst/>
          </a:prstGeom>
          <a:solidFill>
            <a:srgbClr val="00C6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Data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 for rocket,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launchpad, payload, cores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8229600" cy="210312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2" name="Shape 20"/>
          <p:cNvSpPr/>
          <p:nvPr/>
        </p:nvSpPr>
        <p:spPr>
          <a:xfrm>
            <a:off x="457200" y="2743200"/>
            <a:ext cx="82296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64008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Functions for Data Enrichment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getBoosterVersion()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08960" y="3291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 name from /v4/rockets/{id}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getLaunchSite()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08960" y="3657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name, lat, long from /v4/launchpads/{id}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4023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getPayloadData()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108960" y="4023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&amp; orbit from /v4/payloads/{id}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4389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getCoreData()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108960" y="4389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outcome, type, flights, gridfins, legs, block, serial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dataset: 90 Falcon 9 launches with 17 features (Falcon 1 filtered out)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WRANGLING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228600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54864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Values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PayloadMass: 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missing values replaced with column mean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LandingPad: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None values retained (no landing pad used)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columns: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detected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228600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493776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Label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'Class' column: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= 1 (Success):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ASDS, True RTLS, True Ocean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= 0 (Failure):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ASDS/RTLS/Ocean, None None/ASDS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success rate: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66.7%</a:t>
            </a:r>
            <a:endParaRPr lang="en-US" sz="1150" dirty="0"/>
          </a:p>
        </p:txBody>
      </p:sp>
      <p:pic>
        <p:nvPicPr>
          <p:cNvPr id="12" name="Image 0" descr="/home/claude/charts/landing_outco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66160"/>
            <a:ext cx="8229600" cy="13716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WITH VISUALIZATION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05156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64008" cy="1051560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Number vs Launch Site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flight numbers show more success, especially at KSC LC-39A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105156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64008" cy="105156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4937760" y="1170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vs Launch Site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VAFB SLC-4E has no heavy payload launches (&gt;10,000 kg)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4023360" cy="105156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64008" cy="1051560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640080" y="2404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vs Orbit Type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743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ES-L1, GEO, HEO achieve 100% success; SO has 0%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331720"/>
            <a:ext cx="4023360" cy="105156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7" name="Shape 15"/>
          <p:cNvSpPr/>
          <p:nvPr/>
        </p:nvSpPr>
        <p:spPr>
          <a:xfrm>
            <a:off x="4754880" y="2331720"/>
            <a:ext cx="64008" cy="1051560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4937760" y="2404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Number vs Orbit Type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743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success correlates with flight count; GTO shows no pattern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4023360" cy="105156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64008" cy="10515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640080" y="3639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vs Orbit Type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977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payloads succeed more in Polar, LEO, and ISS orbits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566160"/>
            <a:ext cx="4023360" cy="105156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5" name="Shape 23"/>
          <p:cNvSpPr/>
          <p:nvPr/>
        </p:nvSpPr>
        <p:spPr>
          <a:xfrm>
            <a:off x="4754880" y="3566160"/>
            <a:ext cx="64008" cy="1051560"/>
          </a:xfrm>
          <a:prstGeom prst="rect">
            <a:avLst/>
          </a:prstGeom>
          <a:solidFill>
            <a:srgbClr val="FFD60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4937760" y="3639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Success Yearly Trend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977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steadily increased from 0% (2010) to 87% (2020)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OneHotEncoding on categorical columns → 80 features, all cast to float64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WITH SQL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SQL queries on SpaceX launch data using SQLite: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44752"/>
            <a:ext cx="256032" cy="256032"/>
          </a:xfrm>
          <a:prstGeom prst="ellipse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" y="14173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DISTINCT Launch_Site — Identified 3 unique launch sites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801368"/>
            <a:ext cx="256032" cy="256032"/>
          </a:xfrm>
          <a:prstGeom prst="ellipse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548640" y="1801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177393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WHERE Launch_Site LIKE 'CCA%' LIMIT 5 — Cape Canaveral records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157984"/>
            <a:ext cx="256032" cy="256032"/>
          </a:xfrm>
          <a:prstGeom prst="ellipse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548640" y="2157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213055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SUM(Payload_Mass) WHERE Customer='NASA (CRS)' — Total NASA payload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514600"/>
            <a:ext cx="256032" cy="256032"/>
          </a:xfrm>
          <a:prstGeom prst="ellipse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548640" y="2514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60120" y="248716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AVG(Payload_Mass) WHERE Booster='F9 v1.1' — Avg F9 v1.1 payload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871216"/>
            <a:ext cx="256032" cy="256032"/>
          </a:xfrm>
          <a:prstGeom prst="ellipse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548640" y="2871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284378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MIN(Date) WHERE Landing='Success (ground pad)' — First ground landing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227832"/>
            <a:ext cx="256032" cy="256032"/>
          </a:xfrm>
          <a:prstGeom prst="ellipse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548640" y="3227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0120" y="32004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Boosters with drone ship success &amp; payload 4000–6000 kg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584448"/>
            <a:ext cx="256032" cy="256032"/>
          </a:xfrm>
          <a:prstGeom prst="ellipse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548640" y="3584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60120" y="355701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by Mission_Outcome — Success vs failure totals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941064"/>
            <a:ext cx="256032" cy="256032"/>
          </a:xfrm>
          <a:prstGeom prst="ellipse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7" name="Text 25"/>
          <p:cNvSpPr/>
          <p:nvPr/>
        </p:nvSpPr>
        <p:spPr>
          <a:xfrm>
            <a:off x="548640" y="3941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60120" y="391363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Boosters carrying MAX payload (subquery)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297680"/>
            <a:ext cx="256032" cy="256032"/>
          </a:xfrm>
          <a:prstGeom prst="ellipse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0" name="Text 28"/>
          <p:cNvSpPr/>
          <p:nvPr/>
        </p:nvSpPr>
        <p:spPr>
          <a:xfrm>
            <a:off x="548640" y="4297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60120" y="427024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drone ship landings in 2015 with booster &amp; site info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654296"/>
            <a:ext cx="256032" cy="256032"/>
          </a:xfrm>
          <a:prstGeom prst="ellipse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3" name="Text 31"/>
          <p:cNvSpPr/>
          <p:nvPr/>
        </p:nvSpPr>
        <p:spPr>
          <a:xfrm>
            <a:off x="548640" y="4654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60120" y="462686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landing outcomes between 2010-06-04 and 2017-03-20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VISUAL ANALYTICS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41248"/>
            <a:ext cx="1371600" cy="36576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365760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114800" cy="54864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Interactive Maps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all launch sites with Circle markers and labeled popups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outcomes — green (success) / red (failure) — using MarkerCluster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distances from CCAFS SLC-40 to coastline (0.86 km), highway, railway, and city using Haversine formula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sites near coast and close to equator (except VAFB in California)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365760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3192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Dash Dashboard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1: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for launch sites — pie chart of success count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2: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slider for payload (0–10,000 kg) — filters scatter plot dynamically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3: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colored by Booster Version showing payload vs. outcome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has highest success ratio. Payload 2000–4000 kg is the sweet spot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ANALYSIS — 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41248"/>
            <a:ext cx="1371600" cy="36576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965960" cy="118872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965960" cy="45720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904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one-hot features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24028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965960" cy="118872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0" name="Shape 8"/>
          <p:cNvSpPr/>
          <p:nvPr/>
        </p:nvSpPr>
        <p:spPr>
          <a:xfrm>
            <a:off x="2514600" y="1051560"/>
            <a:ext cx="1965960" cy="4572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2606040" y="11704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14904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(72 train / 18 test)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8056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1965960" cy="118872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4754880" y="1051560"/>
            <a:ext cx="1965960" cy="45720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4846320" y="11704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4904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CV for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2084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995160" y="1051560"/>
            <a:ext cx="1965960" cy="118872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0" name="Shape 18"/>
          <p:cNvSpPr/>
          <p:nvPr/>
        </p:nvSpPr>
        <p:spPr>
          <a:xfrm>
            <a:off x="6995160" y="1051560"/>
            <a:ext cx="1965960" cy="45720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7086600" y="11704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86600" y="14904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&amp;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0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60320"/>
          <a:ext cx="7498080" cy="16002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Hyperparameters Tuned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Parameters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Acc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C: [0.01, 0.1, 1]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C=0.01, penalty=l2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C, gamma, kernel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C=1.0, gamma=0.032, sigmoid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criterion, max_depth, splitter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entropy, depth=12, random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n_neighbors, algorithm, 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n=10, auto, p=1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Visualizations • SQL Analysis • Interactive Maps • Dashboard • Prediction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137160" cy="137160"/>
          </a:xfrm>
          <a:prstGeom prst="ellipse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Shape 4"/>
          <p:cNvSpPr/>
          <p:nvPr/>
        </p:nvSpPr>
        <p:spPr>
          <a:xfrm>
            <a:off x="1005840" y="3200400"/>
            <a:ext cx="137160" cy="13716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1280160" y="3200400"/>
            <a:ext cx="137160" cy="137160"/>
          </a:xfrm>
          <a:prstGeom prst="ellipse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— Launch Site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41248"/>
            <a:ext cx="1371600" cy="36576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4" name="Image 0" descr="/home/claude/charts/launch_sites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029200" cy="2834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1005840"/>
            <a:ext cx="3383280" cy="283464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Shape 3"/>
          <p:cNvSpPr/>
          <p:nvPr/>
        </p:nvSpPr>
        <p:spPr>
          <a:xfrm>
            <a:off x="5486400" y="1005840"/>
            <a:ext cx="64008" cy="2834640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" name="Text 4"/>
          <p:cNvSpPr/>
          <p:nvPr/>
        </p:nvSpPr>
        <p:spPr>
          <a:xfrm>
            <a:off x="566928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0" y="146304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 SLC 40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dominates with 55 launches (61%), mainly early missions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highest success rate, with later, more reliable missions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VAFB SLC-4E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for polar orbits only, 13 flights, no heavy payloads &gt;10,000 kg</a:t>
            </a:r>
            <a:endParaRPr lang="en-US" sz="1100" dirty="0"/>
          </a:p>
        </p:txBody>
      </p:sp>
      <p:pic>
        <p:nvPicPr>
          <p:cNvPr id="9" name="Image 1" descr="/home/claude/charts/success_p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657600"/>
            <a:ext cx="1371600" cy="1371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92608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66.7% success rate across 90 Falcon 9 launches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— Orbit Success &amp; Yearly Trend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41248"/>
            <a:ext cx="1371600" cy="36576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4" name="Image 0" descr="/home/claude/charts/orbit_su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0"/>
            <a:ext cx="475488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0" y="91440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Success: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ES-L1, GEO, HEO achieve 100%. GTO (27 launches) has ~52%. SO is 0%.</a:t>
            </a:r>
            <a:endParaRPr lang="en-US" sz="1100" dirty="0"/>
          </a:p>
        </p:txBody>
      </p:sp>
      <p:pic>
        <p:nvPicPr>
          <p:cNvPr id="6" name="Image 1" descr="/home/claude/charts/yearly_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2926080"/>
            <a:ext cx="4754880" cy="2011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0" y="292608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Trend: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improved from 0% (2010) to ~87% (2020). Steepest growth in 2015–2017, coinciding with reusability tech advances.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— SQL Analysis Highlights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41248"/>
            <a:ext cx="1371600" cy="36576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173736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54864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Launch Sites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 SLC-40, KSC LC-39A,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VAFB SLC-4E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51760" cy="173736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51760" cy="54864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3383280" y="1234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NASA (CRS) Payload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691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45,596 kg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CRS missions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51760" cy="173736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651760" cy="5486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6263640" y="1234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F9 v1.1 Payload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1691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2,928.4 kg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per launch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2651760" cy="173736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2651760" cy="5486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50292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Ground Landing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657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2015-12-22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(historic milestone!)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46120" y="3063240"/>
            <a:ext cx="2651760" cy="173736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1" name="Shape 19"/>
          <p:cNvSpPr/>
          <p:nvPr/>
        </p:nvSpPr>
        <p:spPr>
          <a:xfrm>
            <a:off x="3246120" y="3063240"/>
            <a:ext cx="265176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338328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Payload Boosters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3657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 B5 B1048.4,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 B5 B1049.4, and more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3063240"/>
            <a:ext cx="2651760" cy="173736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5" name="Shape 23"/>
          <p:cNvSpPr/>
          <p:nvPr/>
        </p:nvSpPr>
        <p:spPr>
          <a:xfrm>
            <a:off x="6126480" y="3063240"/>
            <a:ext cx="2651760" cy="54864"/>
          </a:xfrm>
          <a:prstGeom prst="rect">
            <a:avLst/>
          </a:prstGeom>
          <a:solidFill>
            <a:srgbClr val="FFD60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626364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Outcomes (2010–2017)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3657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Attempt: 10, Failure: 5,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(drone): 5, Ground: 3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— Interactive Map with Folium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41248"/>
            <a:ext cx="1371600" cy="36576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47472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54864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Site Markers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sites pinned on global map. Florida east coast cluster (CCAFS LC-40, CCAFS SLC-40, KSC LC-39A) and California (VAFB SLC-4E).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3383280"/>
            <a:ext cx="2560320" cy="822960"/>
          </a:xfrm>
          <a:prstGeom prst="rect">
            <a:avLst/>
          </a:prstGeom>
          <a:solidFill>
            <a:srgbClr val="0F244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sites near coastline for abort safety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743200" cy="347472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743200" cy="5486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3337560" y="1143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Success/Failure Map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160020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MarkerCluster with green/red markers. KSC LC-39A shows highest density of green. CCAFS has mix of early failures and later successes.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3383280"/>
            <a:ext cx="2560320" cy="822960"/>
          </a:xfrm>
          <a:prstGeom prst="rect">
            <a:avLst/>
          </a:prstGeom>
          <a:solidFill>
            <a:srgbClr val="0F244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3383280" y="3429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is the most successful site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743200" cy="347472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7" name="Shape 15"/>
          <p:cNvSpPr/>
          <p:nvPr/>
        </p:nvSpPr>
        <p:spPr>
          <a:xfrm>
            <a:off x="6126480" y="1005840"/>
            <a:ext cx="27432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6263640" y="1143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Analysis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160020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 SLC-40 is 0.86 km from coastline. PolyLines to nearest highway, railway, city. All sites have nearby infrastructure.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3383280"/>
            <a:ext cx="2560320" cy="822960"/>
          </a:xfrm>
          <a:prstGeom prst="rect">
            <a:avLst/>
          </a:prstGeom>
          <a:solidFill>
            <a:srgbClr val="0F244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6309360" y="3429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coastal + infrastructure positioning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Coordinates: CCAFS LC-40 (28.56°N) | CCAFS SLC-40 (28.56°N) | KSC LC-39A (28.57°N) | VAFB SLC-4E (34.63°N)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— Plotly Dash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41248"/>
            <a:ext cx="1371600" cy="36576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274320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54864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— All Sites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contributes the most successful launches, followed by CCAFS SLC-40.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3108960"/>
            <a:ext cx="2560320" cy="457200"/>
          </a:xfrm>
          <a:prstGeom prst="rect">
            <a:avLst/>
          </a:prstGeom>
          <a:solidFill>
            <a:srgbClr val="00C6FF">
              <a:alpha val="15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LC-39A: Highest success count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743200" cy="274320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743200" cy="5486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3337560" y="1143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— Success Ratio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6002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shows ~76.7% success rate, significantly outperforming other sites.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3108960"/>
            <a:ext cx="2560320" cy="457200"/>
          </a:xfrm>
          <a:prstGeom prst="rect">
            <a:avLst/>
          </a:prstGeom>
          <a:solidFill>
            <a:srgbClr val="00E676">
              <a:alpha val="15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3383280" y="3108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LC-39A: ~76.7% success rate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743200" cy="274320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7" name="Shape 15"/>
          <p:cNvSpPr/>
          <p:nvPr/>
        </p:nvSpPr>
        <p:spPr>
          <a:xfrm>
            <a:off x="6126480" y="1005840"/>
            <a:ext cx="27432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6263640" y="1143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— Payload vs Outcome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16002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2000–4000 kg has highest success. FT and B5 boosters dominate heavy successes.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3108960"/>
            <a:ext cx="2560320" cy="457200"/>
          </a:xfrm>
          <a:prstGeom prst="rect">
            <a:avLst/>
          </a:prstGeom>
          <a:solidFill>
            <a:srgbClr val="FF6B35">
              <a:alpha val="15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6309360" y="3108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payloads most successful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64008" cy="822960"/>
          </a:xfrm>
          <a:prstGeom prst="rect">
            <a:avLst/>
          </a:prstGeom>
          <a:solidFill>
            <a:srgbClr val="FFD60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731520" y="4114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Insight: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light (&lt;1000 kg) and very heavy (&gt;9000 kg) payloads both show lower success than mid-range (2000–6000 kg), suggesting an optimal payload 'sweet spot' for landing, likely tied to fuel margin and re-entry dynamics.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— Classification Accuracy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41248"/>
            <a:ext cx="1371600" cy="36576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4" name="Image 0" descr="/home/claude/charts/model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029200" cy="2834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1005840"/>
            <a:ext cx="3383280" cy="283464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Shape 3"/>
          <p:cNvSpPr/>
          <p:nvPr/>
        </p:nvSpPr>
        <p:spPr>
          <a:xfrm>
            <a:off x="5486400" y="1005840"/>
            <a:ext cx="64008" cy="2834640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" name="Text 4"/>
          <p:cNvSpPr/>
          <p:nvPr/>
        </p:nvSpPr>
        <p:spPr>
          <a:xfrm>
            <a:off x="566928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0" y="146304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 tied at 83.3%: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LR, SVM, KNN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Tree: highest CV (87.5%) but worst test (66.7%) —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Logistic Regression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Competitive accuracy (83.3%)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High interpretability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Fastest inference time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Stable generalization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0" name="Shape 7"/>
          <p:cNvSpPr/>
          <p:nvPr/>
        </p:nvSpPr>
        <p:spPr>
          <a:xfrm>
            <a:off x="457200" y="4023360"/>
            <a:ext cx="64008" cy="731520"/>
          </a:xfrm>
          <a:prstGeom prst="rect">
            <a:avLst/>
          </a:prstGeom>
          <a:solidFill>
            <a:srgbClr val="FFD60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" name="Text 8"/>
          <p:cNvSpPr/>
          <p:nvPr/>
        </p:nvSpPr>
        <p:spPr>
          <a:xfrm>
            <a:off x="731520" y="4114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Insight: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test set (18 samples) limits differentiation — 1 misclassification changes accuracy by ~5.5%. Bootstrap CI or larger test sets would improve robustness.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— Confusion Matrix (Best Model)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41248"/>
            <a:ext cx="1371600" cy="36576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4" name="Image 0" descr="/home/claude/charts/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365760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0" y="1097280"/>
            <a:ext cx="4206240" cy="347472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Shape 3"/>
          <p:cNvSpPr/>
          <p:nvPr/>
        </p:nvSpPr>
        <p:spPr>
          <a:xfrm>
            <a:off x="4572000" y="1097280"/>
            <a:ext cx="64008" cy="3474720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" name="Text 4"/>
          <p:cNvSpPr/>
          <p:nvPr/>
        </p:nvSpPr>
        <p:spPr>
          <a:xfrm>
            <a:off x="475488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Breakdown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54880" y="1691640"/>
            <a:ext cx="3840480" cy="548640"/>
          </a:xfrm>
          <a:prstGeom prst="rect">
            <a:avLst/>
          </a:prstGeom>
          <a:solidFill>
            <a:srgbClr val="0F244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" name="Shape 6"/>
          <p:cNvSpPr/>
          <p:nvPr/>
        </p:nvSpPr>
        <p:spPr>
          <a:xfrm>
            <a:off x="4754880" y="1691640"/>
            <a:ext cx="54864" cy="548640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" name="Text 7"/>
          <p:cNvSpPr/>
          <p:nvPr/>
        </p:nvSpPr>
        <p:spPr>
          <a:xfrm>
            <a:off x="4892040" y="16916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40680" y="1719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40680" y="19476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predicted successful landing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54880" y="2350008"/>
            <a:ext cx="3840480" cy="548640"/>
          </a:xfrm>
          <a:prstGeom prst="rect">
            <a:avLst/>
          </a:prstGeom>
          <a:solidFill>
            <a:srgbClr val="0F244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4" name="Shape 11"/>
          <p:cNvSpPr/>
          <p:nvPr/>
        </p:nvSpPr>
        <p:spPr>
          <a:xfrm>
            <a:off x="4754880" y="2350008"/>
            <a:ext cx="54864" cy="548640"/>
          </a:xfrm>
          <a:prstGeom prst="rect">
            <a:avLst/>
          </a:prstGeom>
          <a:solidFill>
            <a:srgbClr val="FF5252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5" name="Text 12"/>
          <p:cNvSpPr/>
          <p:nvPr/>
        </p:nvSpPr>
        <p:spPr>
          <a:xfrm>
            <a:off x="4892040" y="235000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44068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40680" y="2606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success, actually failed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754880" y="3008376"/>
            <a:ext cx="3840480" cy="548640"/>
          </a:xfrm>
          <a:prstGeom prst="rect">
            <a:avLst/>
          </a:prstGeom>
          <a:solidFill>
            <a:srgbClr val="0F244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9" name="Shape 16"/>
          <p:cNvSpPr/>
          <p:nvPr/>
        </p:nvSpPr>
        <p:spPr>
          <a:xfrm>
            <a:off x="4754880" y="3008376"/>
            <a:ext cx="54864" cy="548640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0" name="Text 17"/>
          <p:cNvSpPr/>
          <p:nvPr/>
        </p:nvSpPr>
        <p:spPr>
          <a:xfrm>
            <a:off x="4892040" y="300837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5440680" y="30358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40680" y="32644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predicted failed landing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754880" y="3666744"/>
            <a:ext cx="3840480" cy="548640"/>
          </a:xfrm>
          <a:prstGeom prst="rect">
            <a:avLst/>
          </a:prstGeom>
          <a:solidFill>
            <a:srgbClr val="0F244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4" name="Shape 21"/>
          <p:cNvSpPr/>
          <p:nvPr/>
        </p:nvSpPr>
        <p:spPr>
          <a:xfrm>
            <a:off x="4754880" y="3666744"/>
            <a:ext cx="54864" cy="548640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5" name="Text 22"/>
          <p:cNvSpPr/>
          <p:nvPr/>
        </p:nvSpPr>
        <p:spPr>
          <a:xfrm>
            <a:off x="4892040" y="366674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5440680" y="36941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440680" y="392277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missed successful landings!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57200" y="4297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80%  |  Recall: 100%  |  F1-Score: 88.9%  |  Accuracy: 83.3%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371600" cy="36576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14300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64008" cy="1143000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Trends Upward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8988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0% (2010) to ~87% (2020), demonstrating continuous reusability improvement.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0" cy="114300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64008" cy="1143000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4937760" y="1078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Site Matters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38988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achieves ~76.7% success. All sites near coastlines for safety.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4114800" cy="114300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64008" cy="1143000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548640" y="2404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Type Affects Outcomes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71576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ES-L1, GEO, HEO: 100% success. GTO ~52%, SO 0%.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331720"/>
            <a:ext cx="4114800" cy="114300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7" name="Shape 15"/>
          <p:cNvSpPr/>
          <p:nvPr/>
        </p:nvSpPr>
        <p:spPr>
          <a:xfrm>
            <a:off x="4754880" y="2331720"/>
            <a:ext cx="64008" cy="11430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4937760" y="2404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Sweet Spot Exists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71576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2,000–6,000 kg payloads show highest success rates.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4114800" cy="114300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1" name="Shape 19"/>
          <p:cNvSpPr/>
          <p:nvPr/>
        </p:nvSpPr>
        <p:spPr>
          <a:xfrm>
            <a:off x="365760" y="3657600"/>
            <a:ext cx="64008" cy="1143000"/>
          </a:xfrm>
          <a:prstGeom prst="rect">
            <a:avLst/>
          </a:prstGeom>
          <a:solidFill>
            <a:srgbClr val="FFD60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548640" y="3730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Achieve 83.3%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04164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LR, SVM, KNN tied. DT overfits. LR recommended for interpretability.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657600"/>
            <a:ext cx="4114800" cy="114300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5" name="Shape 23"/>
          <p:cNvSpPr/>
          <p:nvPr/>
        </p:nvSpPr>
        <p:spPr>
          <a:xfrm>
            <a:off x="4754880" y="3657600"/>
            <a:ext cx="64008" cy="1143000"/>
          </a:xfrm>
          <a:prstGeom prst="rect">
            <a:avLst/>
          </a:prstGeom>
          <a:solidFill>
            <a:srgbClr val="FF5252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4937760" y="3730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Estimation is Feasible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404164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landing success enables $62M vs $165M cost estimation for competitors.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C6FF">
              <a:alpha val="8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FF6B35">
              <a:alpha val="8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2286000" cy="36576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First Stage Landing Prediction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Data Science Professional Certificate — Capstone Project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142D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Notebook References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Data Collection (SpaceX API) — jupyter_labs_spacex_data_collection_api.ipynb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4087368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Data Wrangling — labs-jupyter-spacex-Data_wrangling.ipynb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4242816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EDA with Visualization — edadataviz.ipynb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4398264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EDA with SQL — jupyter_labs_eda_sql_coursera_sqllite.ipynb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4553712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Interactive Maps (Folium) — lab_jupyter_launch_site_location.ipynb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4709160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Machine Learning Prediction — SpaceX_Machine_Learning_Prediction_Part_5.ipynb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2153</Words>
  <Application>Microsoft Office PowerPoint</Application>
  <PresentationFormat>On-screen Show (16:9)</PresentationFormat>
  <Paragraphs>384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SpaceX Falcon 9 First Stage Landing Prediction</dc:title>
  <dc:subject>PptxGenJS Presentation</dc:subject>
  <dc:creator>Irwin</dc:creator>
  <cp:lastModifiedBy>Muhammad Irwin Hentriansa</cp:lastModifiedBy>
  <cp:revision>1</cp:revision>
  <dcterms:created xsi:type="dcterms:W3CDTF">2026-02-22T14:15:51Z</dcterms:created>
  <dcterms:modified xsi:type="dcterms:W3CDTF">2026-02-22T14:20:20Z</dcterms:modified>
</cp:coreProperties>
</file>